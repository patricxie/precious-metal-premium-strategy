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40680"/>
          </a:xfrm>
          <a:prstGeom prst="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貴金屬市場分析 ETL 專案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8308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黃金與白銀期貨/現貨 Premium、Z-score 與交易訊號建構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6771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5 分鐘簡報版｜Canva 匯入友善格式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08960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資料更新：2026-03-25 08:00:21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93008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最佳策略：Silver BUY 20D | 317.02%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8978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2554"/>
                </a:solidFill>
                <a:latin typeface="Aptos"/>
              </a:rPr>
              <a:t>Patric Xie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217920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72554"/>
                </a:solidFill>
                <a:latin typeface="Aptos"/>
              </a:rPr>
              <a:t>Data Engineering / Quant Project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72554"/>
                </a:solidFill>
                <a:latin typeface="Aptos"/>
              </a:rPr>
              <a:t>1. 專案背景與目標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920240" cy="64008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把市場資料分析題目，做成可重複執行的 ETL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642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專案背景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黃金與白銀同時具備避險與商品屬性，價格偏離具研究價值。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我希望不只做單次分析，而是完整實作 Extract / Transform / Load。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主題聚焦在期貨相對現貨的 Premium，觀察是否出現可量化的偏離。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642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專案目標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201168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自動抓取黃金與白銀的期貨、現貨資料。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計算 Premium 與 Z-score，產生 BUY / SELL / HOLD 訊號。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把分析結果輸出成 CSV 並存進 SQLite，方便後續查詢與擴充。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72554"/>
                </a:solidFill>
                <a:latin typeface="Aptos"/>
              </a:rPr>
              <a:t>2. 資料來源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920240" cy="64008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資料涵蓋期貨、現貨與對齊後的分析資料集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2743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417320"/>
            <a:ext cx="2743200" cy="109728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18488"/>
            <a:ext cx="2414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黃金期貨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523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來源：Yahoo Finance（GC=F）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期間：2021-03-24 ~ 2026-03-24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筆數：1258 筆，日頻資料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1417320"/>
            <a:ext cx="2743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4448" y="1417320"/>
            <a:ext cx="2743200" cy="109728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618488"/>
            <a:ext cx="2414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白銀期貨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1920240"/>
            <a:ext cx="2523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來源：Yahoo Finance（SI=F）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期間：2021-03-24 ~ 2026-03-24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筆數：1258 筆，日頻資料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1417320"/>
            <a:ext cx="26974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7104" y="1417320"/>
            <a:ext cx="2697480" cy="109728"/>
          </a:xfrm>
          <a:prstGeom prst="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1618488"/>
            <a:ext cx="23682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現貨資料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1920240"/>
            <a:ext cx="24780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來源：Alpha Vantage API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黃金：2011-06-01 ~ 2026-03-06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白銀：2011-06-01 ~ 2026-03-06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4896" y="1417320"/>
            <a:ext cx="2112264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54896" y="1417320"/>
            <a:ext cx="2112264" cy="109728"/>
          </a:xfrm>
          <a:prstGeom prst="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1618488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對齊後分析集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4" y="1920240"/>
            <a:ext cx="18928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期間：2021-03-18 ~ 2026-03-06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共 1250 筆對齊資料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欄位：premium%、z-score、signal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822191"/>
            <a:ext cx="109453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690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554"/>
                </a:solidFill>
                <a:latin typeface="Aptos"/>
              </a:rPr>
              <a:t>資料選擇理由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891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期貨反映市場預期，現貨更接近即時基礎價格，兩者的價差可以轉成 Premium 指標。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將不同來源資料做日期對齊後，就能進一步計算偏離程度並建立統計訊號。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72554"/>
                </a:solidFill>
                <a:latin typeface="Aptos"/>
              </a:rPr>
              <a:t>3. ETL 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920240" cy="64008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流程拆成 extract、transform、load，再由主程式串接執行</a:t>
            </a:r>
          </a:p>
        </p:txBody>
      </p:sp>
      <p:pic>
        <p:nvPicPr>
          <p:cNvPr id="5" name="Picture 4" descr="gold_silver_analysis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6492240" cy="865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481328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2834640"/>
            <a:ext cx="4069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79" y="4370832"/>
            <a:ext cx="4069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82496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554"/>
                </a:solidFill>
                <a:latin typeface="Aptos"/>
              </a:rPr>
              <a:t>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96596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抓取期貨 CSV 與現貨 API 資料，整理成可合併格式。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054096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554"/>
                </a:solidFill>
                <a:latin typeface="Aptos"/>
              </a:rP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33756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標準化日期/欄位、合併資料源、計算 Premium、Z-score 與訊號。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60857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2554"/>
                </a:solidFill>
                <a:latin typeface="Aptos"/>
              </a:rP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892040"/>
            <a:ext cx="3474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輸出 CSV、寫入 SQLite，讓分析與展示層可以直接使用。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72554"/>
                </a:solidFill>
                <a:latin typeface="Aptos"/>
              </a:rPr>
              <a:t>4. 分析方法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920240" cy="64008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將期貨相對現貨的偏離轉成統計訊號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394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72768"/>
            <a:ext cx="50657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Aptos"/>
              </a:rPr>
              <a:t>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74520"/>
            <a:ext cx="5065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554"/>
                </a:solidFill>
                <a:latin typeface="Aptos"/>
              </a:rPr>
              <a:t>Premium (%) = (Futures - Spot) / Spot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50657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觀察期貨相對現貨是溢價還是折價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5349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572768"/>
            <a:ext cx="50200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72554"/>
                </a:solidFill>
                <a:latin typeface="Aptos"/>
              </a:rPr>
              <a:t>Rolling Z-score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874520"/>
            <a:ext cx="50200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554"/>
                </a:solidFill>
                <a:latin typeface="Aptos"/>
              </a:rPr>
              <a:t>Z = (Premium - Mean20) / Std20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331720"/>
            <a:ext cx="502005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用 20 日窗口判斷目前偏離是否落在極端區間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0040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3200400"/>
            <a:ext cx="5349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訊號規則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Z-score &lt; -2：判定偏低，給 BUY 訊號。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Z-score &gt; 2：判定偏高，給 SELL 訊號。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其餘區間：維持 HOLD。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4290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方法價值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749039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把主觀判斷轉成可解釋、可重複的量化規則。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後續可直接接回測、報表、儀表板與排程自動化。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最新資料點：Gold Z 0.63 / Silver Z 0.35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72554"/>
                </a:solidFill>
                <a:latin typeface="Aptos"/>
              </a:rPr>
              <a:t>5. 遇到的問題與解法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920240" cy="64008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資料工程的關鍵不只在抓資料，更在資料品質與流程穩定性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54496" y="1463040"/>
            <a:ext cx="527608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1907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主要問題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4526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期貨與現貨資料欄位名稱不一致。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不同來源資料日期頻率不同，容易對不齊。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API 抓取偶爾缺值或格式異常，需要額外清理。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如果流程寫得太集中，後續擴充和除錯會變困難。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1907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對應解法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057400"/>
            <a:ext cx="4526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統一欄位命名與日期格式，先標準化再合併。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採用 inner join 對齊日期，避免錯配造成假訊號。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在 transform 階段先做缺值處理與 rolling 計算檢查。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將流程拆成 extract / transform / load，提升維護性。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72554"/>
                </a:solidFill>
                <a:latin typeface="Aptos"/>
              </a:rPr>
              <a:t>6. 成果展示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920240" cy="64008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專案已能把原始價格資料轉成可分析、可回測、可展示的結果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27048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最佳策略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22311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554"/>
                </a:solidFill>
                <a:latin typeface="Aptos"/>
              </a:rPr>
              <a:t>Silver BUY 20D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76856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近兩年回測最佳表現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41732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總報酬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18196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554"/>
                </a:solidFill>
                <a:latin typeface="Aptos"/>
              </a:rPr>
              <a:t>317.02%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76856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白銀 BUY 20D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33288" y="1417320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79" y="1527048"/>
            <a:ext cx="14996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勝率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1828800"/>
            <a:ext cx="14996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554"/>
                </a:solidFill>
                <a:latin typeface="Aptos"/>
              </a:rPr>
              <a:t>83.33%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2276856"/>
            <a:ext cx="14996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白銀 BUY 20D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4968" y="1417320"/>
            <a:ext cx="1920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527048"/>
            <a:ext cx="15910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黃金參考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828800"/>
            <a:ext cx="15910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554"/>
                </a:solidFill>
                <a:latin typeface="Aptos"/>
              </a:rPr>
              <a:t>73.65%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276856"/>
            <a:ext cx="15910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Gold BUY 20D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48088" y="1417320"/>
            <a:ext cx="1682496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527048"/>
            <a:ext cx="13533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Max 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1828800"/>
            <a:ext cx="13533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554"/>
                </a:solidFill>
                <a:latin typeface="Aptos"/>
              </a:rPr>
              <a:t>-9.57%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276856"/>
            <a:ext cx="13533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白銀 BUY 20D</a:t>
            </a:r>
          </a:p>
        </p:txBody>
      </p:sp>
      <p:pic>
        <p:nvPicPr>
          <p:cNvPr id="25" name="Picture 24" descr="equity_curve_comparison_all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88920"/>
            <a:ext cx="6629400" cy="33147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635240" y="2880360"/>
            <a:ext cx="3913632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312724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可交付成果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7264" y="3456432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分析結果輸出成 CSV。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整理後資料可寫入 SQLite。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圖表、PDF 報告與簡報可同步更新。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能作為作品集與面試展示素材。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72554"/>
                </a:solidFill>
                <a:latin typeface="Aptos"/>
              </a:rPr>
              <a:t>7. 未來優化與結論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920240" cy="64008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從單次專題，進一步擴展成可持續維護的資料產品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54496" y="1481328"/>
            <a:ext cx="5276088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C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下一步優化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84831"/>
            <a:ext cx="4526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加入排程自動化，固定更新資料與報表。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部署到雲端環境，讓 dashboard 可持續存取。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增加策略回測、交易成本與更多因子比較。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把成果做成更完整的視覺化儀表板。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結論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084831"/>
            <a:ext cx="4526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這個專案讓我完整實作一次資料工程流程。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我不只處理分析邏輯，也處理資料品質、流程拆分與落地儲存。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它讓我更確認自己想往資料工程方向發展。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4736592"/>
            <a:ext cx="4251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Aptos"/>
              </a:rPr>
              <a:t>一句話總結：把原始市場資料，轉成可重複執行、可查詢、可展示的 ETL 成果。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