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貴金屬市場分析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黃金與白銀期貨的量化訊號、回測結果與自動化資料流程</a:t>
            </a:r>
          </a:p>
          <a:p>
            <a:r>
              <a:t>更新時間：2026-03-19 23:29:44</a:t>
            </a:r>
          </a:p>
          <a:p>
            <a:r>
              <a:t>最佳策略：Silver BUY 20D | 317.02%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市場背景與研究動機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黃金與白銀兼具避險與商品屬性，適合做策略比較。</a:t>
            </a:r>
          </a:p>
          <a:p>
            <a:pPr>
              <a:defRPr sz="2400"/>
            </a:pPr>
            <a:r>
              <a:t>研究問題：價格偏離均值後，是否存在可量化的回歸機會。</a:t>
            </a:r>
          </a:p>
          <a:p>
            <a:pPr>
              <a:defRPr sz="2400"/>
            </a:pPr>
            <a:r>
              <a:t>目標：找出高勝率且可重複驗證的交易規則。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資料來源與分析架構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資料來源：Yahoo Finance，使用 GC=F 與 SI=F。</a:t>
            </a:r>
          </a:p>
          <a:p>
            <a:pPr>
              <a:defRPr sz="2400"/>
            </a:pPr>
            <a:r>
              <a:t>流程：ETL -&gt; 特徵與訊號 -&gt; SQLite -&gt; 回測 -&gt; Dashboard。</a:t>
            </a:r>
          </a:p>
          <a:p>
            <a:pPr>
              <a:defRPr sz="2400"/>
            </a:pPr>
            <a:r>
              <a:t>技術：Python、Pandas、Matplotlib、Streamlit、GitHub Actions。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訊號邏輯與研究方法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計算 close 相對 MA20 的偏離程度。</a:t>
            </a:r>
          </a:p>
          <a:p>
            <a:pPr>
              <a:defRPr sz="2400"/>
            </a:pPr>
            <a:r>
              <a:t>使用 60 日 rolling Z-score 衡量偏離是否極端。</a:t>
            </a:r>
          </a:p>
          <a:p>
            <a:pPr>
              <a:defRPr sz="2400"/>
            </a:pPr>
            <a:r>
              <a:t>Z-score 低且趨勢向上時 BUY，高且趨勢向下時 SELL。</a:t>
            </a:r>
          </a:p>
          <a:p>
            <a:pPr>
              <a:defRPr sz="2400"/>
            </a:pPr>
            <a:r>
              <a:t>比較 5、10、20 天持有期的績效與風險。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核心回測結果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最佳策略：Silver BUY 20D，總報酬 317.02%。</a:t>
            </a:r>
          </a:p>
          <a:p>
            <a:pPr>
              <a:defRPr sz="2400"/>
            </a:pPr>
            <a:r>
              <a:t>勝率 83.33%，最大回撤 -9.57%。</a:t>
            </a:r>
          </a:p>
          <a:p>
            <a:pPr>
              <a:defRPr sz="2400"/>
            </a:pPr>
            <a:r>
              <a:t>Gold BUY 20D 也有 73.65% 的總報酬。</a:t>
            </a:r>
          </a:p>
          <a:p>
            <a:pPr>
              <a:defRPr sz="2400"/>
            </a:pPr>
            <a:r>
              <a:t>SELL 策略相對較弱，最差為 Silver SELL 20D。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圖表解讀：策略績效比較</a:t>
            </a:r>
          </a:p>
        </p:txBody>
      </p:sp>
      <p:pic>
        <p:nvPicPr>
          <p:cNvPr id="3" name="Picture 2" descr="equity_curve_comparison_all_strateg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10515600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圖表解讀：訊號與風險</a:t>
            </a:r>
          </a:p>
        </p:txBody>
      </p:sp>
      <p:pic>
        <p:nvPicPr>
          <p:cNvPr id="3" name="Picture 2" descr="gold_zscore_2year_sig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577840" cy="2390503"/>
          </a:xfrm>
          <a:prstGeom prst="rect">
            <a:avLst/>
          </a:prstGeom>
        </p:spPr>
      </p:pic>
      <p:pic>
        <p:nvPicPr>
          <p:cNvPr id="4" name="Picture 3" descr="silver_zscore_2year_sig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577840" cy="239050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系統價值與應用場景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資料工程：ETL、健康檢查、自動更新與版本管理。</a:t>
            </a:r>
          </a:p>
          <a:p>
            <a:pPr>
              <a:defRPr sz="2400"/>
            </a:pPr>
            <a:r>
              <a:t>分析：從原始價格轉成可解釋的交易訊號與風險指標。</a:t>
            </a:r>
          </a:p>
          <a:p>
            <a:pPr>
              <a:defRPr sz="2400"/>
            </a:pPr>
            <a:r>
              <a:t>展示：Streamlit dashboard、PDF 報告、簡報檔。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結論、限制與下一步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結論：近兩年最佳策略為 Silver BUY 20D。</a:t>
            </a:r>
          </a:p>
          <a:p>
            <a:pPr>
              <a:defRPr sz="2400"/>
            </a:pPr>
            <a:r>
              <a:t>限制：尚未納入交易成本、滑價與更長週期驗證。</a:t>
            </a:r>
          </a:p>
          <a:p>
            <a:pPr>
              <a:defRPr sz="2400"/>
            </a:pPr>
            <a:r>
              <a:t>下一步：加入 premium、美元、利率與通膨等多因子。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